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68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Automotive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Safety Systems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ML/AI to R&amp;D Engineering in Vehicle Dynamics &amp; Control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BEST Hackathon 2026 | Politecnico di Torino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Team &amp; Context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640080" cy="2560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685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Introduction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0886" y="1051560"/>
            <a:ext cx="3847514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Kaan Sadik Aslan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53686" cy="20116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5462" y="2096087"/>
            <a:ext cx="34001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599497"/>
            <a:ext cx="1906172" cy="386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Mechatronics Engineering, Politecnico di Torino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Sajjad Shahali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22789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&amp; Engineering, Politecnico di Torino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640080" cy="2560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" y="32095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Selection &amp; Motivation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4572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Automotive — Active Safety &amp; Vehicle Dynamics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We have a working 13-DoF high-fidelity vehicle simulation with validated ESC, identifier, and ABS activation algorithms. Our research directly addresses ISO 26262 (Functional Safety) and Automotive SPICE process areas. Real impact: AI can reduce stopping distance by 21-55% on snow — this saves lives.</a:t>
            </a:r>
            <a:endParaRPr lang="en-US" sz="10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33904D31-834B-F147-FDF4-9C0DDAE3A53E}"/>
              </a:ext>
            </a:extLst>
          </p:cNvPr>
          <p:cNvSpPr/>
          <p:nvPr/>
        </p:nvSpPr>
        <p:spPr>
          <a:xfrm>
            <a:off x="493776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Omer Ozkan</a:t>
            </a:r>
            <a:endParaRPr lang="en-US" sz="14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65F3875E-AC90-4F82-F7D9-E6C79899E482}"/>
              </a:ext>
            </a:extLst>
          </p:cNvPr>
          <p:cNvSpPr/>
          <p:nvPr/>
        </p:nvSpPr>
        <p:spPr>
          <a:xfrm>
            <a:off x="4937760" y="2286000"/>
            <a:ext cx="22789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&amp; Engineering, Politecnico di Torino</a:t>
            </a:r>
            <a:endParaRPr lang="en-US" sz="95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762B714A-35E3-BA28-1ED6-D09302ED10FF}"/>
              </a:ext>
            </a:extLst>
          </p:cNvPr>
          <p:cNvSpPr/>
          <p:nvPr/>
        </p:nvSpPr>
        <p:spPr>
          <a:xfrm>
            <a:off x="564572" y="2240280"/>
            <a:ext cx="3018241" cy="313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 Ali Demir</a:t>
            </a:r>
            <a:endParaRPr lang="en-US" sz="14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EBEBF0EB-4C64-F896-77DA-C27F8DF40A24}"/>
              </a:ext>
            </a:extLst>
          </p:cNvPr>
          <p:cNvSpPr/>
          <p:nvPr/>
        </p:nvSpPr>
        <p:spPr>
          <a:xfrm>
            <a:off x="654148" y="2633589"/>
            <a:ext cx="1906172" cy="386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Mechatronics Engineering, Politecnico di Torino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Analysis &amp; Scope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640080" cy="2560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685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Needs &amp; Pain Points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192024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ABS Operation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surface knowledge, same thresholds for dry/snow/ice. 300-500ms adaptation delay at mu-jump.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0058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06040" y="100584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9748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Calibration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1463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km test driving per platform. Each surface/tire combination requires separate tuning.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192024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Friction Data Sharing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ABS, ESC, TCS operate independently. No shared friction estimate for lateral stability.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10058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03720" y="1005840"/>
            <a:ext cx="192024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Migration Burden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1463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validation in MATLAB, production in C/Python. Manual porting is error-prone.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640080" cy="2560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8346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88720" y="2834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Used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2004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(Anthropic):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design, equation derivation, activation logic, code generation, validation script, presentation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ML stack: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(GP, NN, NLS), scipy (curve_fit, Brent), numpy, pandas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MATLAB/Simulink: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13-DoF vehicle simulation, 48-run validation, quadprog solver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640080" cy="2560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28346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0" y="2834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Areas (V-Model Mapping)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1546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0" y="32004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 SW Design &amp; Development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 algorithm, identifier, activation logic)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 Test Definition &amp; Planning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(48-sim validation framework)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 Test Data Management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(synthetic data generation, noise models)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 Quality Analysis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(robustness sweeps, F1 metrics)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Standards: ISO 26262 (Functional Safety), Automotive SPICE (Process Assessment), ISO/SAE 21434 (Cybersecurity)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Use Case — UC_001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45720" cy="59436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ID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94360" y="8412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UC_001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54480" y="65836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Name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554480" y="8412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Friction ID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00400" y="65836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Area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00400" y="841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Design (V-Model #6)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0" y="6583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0" y="841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slip (1kHz), F_l estimates, ESC perturbation, brake torque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132320" y="65836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132320" y="8412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Burckhardt (c1,c2,c3), surface class, s_opt, mu_peak, alpha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3898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IS — Current Process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16276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calibrate ABS thresholds via 10k+ km test drives per platform. No real-time surface identification. Same parameters for all roads.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2240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cost, slow iteration, no friction data for ESC/TCS, 300-500ms blind operation at surface changes, suboptimal snow braking (+20-50% distance).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3898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— AI-Enabled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6276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identifier: ML-LUT (GP/NN) + ESC-gradient analytic + Brent solver. GP-ESC optimizer uses curvature for Newton-like convergence. Alpha confidence metric gates all decisions.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2240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stopping: -21 to -55%. Adaptation: under 100ms. s_opt convergence: 80ms (vs 4-6s). Calibration effort: -80%. Validated: 48 sims, 3 surfaces.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Tools Market Analysis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8229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Continental MK C2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Continental AG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ABS/ESC/TCS, hydraulic modulator, embedded ECU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ASIL-D certified, 20+ years field 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Bosch iBooster+ESP9.3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 Bosch GmbH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Electromech brake booster, 9th gen ESP, camera-based friction est.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0.1s response, OTA updateable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Use Case — UC_002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45720" cy="59436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ID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94360" y="8412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UC_002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54480" y="65836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Name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554480" y="8412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Requirements Traceability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00400" y="65836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Area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00400" y="841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Engineering (V-Model #2)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0" y="6583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0" y="841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SysML/DOORS requirements (XML), test specifications, change requests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132320" y="65836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132320" y="8412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matrix, gap report, impact analysis, compliance dashboard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3898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IS — Current Process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16276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manually link requirements to test cases in DOORS/Excel. Cross-referencing between system, SW, and HW specs done by hand. Change impact analysis takes days.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2240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links, inconsistent naming, manual effort 40+ hrs/release, delayed impact analysis, audit failures from incomplete traceability.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3898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— AI-Enabled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6276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(LLM) parses requirement documents, automatically suggests links between requirements and test cases using semantic similarity. NLP identifies gaps and inconsistencies.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2240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effort: -60%. Gap detection: automated. Change impact analysis: minutes vs days. Audit readiness: continuous.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Tools Market Analysis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8229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DOORS Next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lifecycle management, OSLC integration, impact analysis, baseline comparison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standard, ASPICE compliant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Jama Connect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Jama Software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traceability, review center, risk management, REST API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trace, 40% faster reviews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Use Case — UC_003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45720" cy="59436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ID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94360" y="8412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UC_003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54480" y="65836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Name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554480" y="8412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Quality &amp; Migration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00400" y="65836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Area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00400" y="841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Development (V-Model #6)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0" y="6583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0" y="841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source (.m files), Simulink models (.slx), C target code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132320" y="65836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132320" y="8412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Python/C code, quality report, MISRA compliance check, diff analysis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3898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IS — Current Process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16276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algorithms developed in MATLAB/Simulink. Manual porting to C for ECU or Python for prototyping. Code review is manual, MISRA checking requires separate tools.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2240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Porting errors, 2-3 weeks per migration cycle, no automated equivalence checking, MISRA violations found late, technical debt accumulation.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3898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— AI-Enabled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6276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code translation (MATLAB to Python/C) with automated equivalence testing. AI-powered code review checks naming, structure, MISRA rules. Diff analysis between versions.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2240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time: -70%. Porting errors: -90%. MISRA compliance: automated. Code review effort: -50%.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Tools Market Analysis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8229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MathWorks Polyspace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MathWorks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analysis, MISRA C/C++, code proving, runtime error detection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ASIL-D qualified, zero false negatives on proven code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 + Copilot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GitHub/SonarSource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code suggestions, static analysis, security scanning, quality gates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bug detection, 55% faster reviews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Use Case — UC_004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45720" cy="59436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ID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94360" y="8412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UC_004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54480" y="65836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Name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554480" y="8412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Test Data Gen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00400" y="65836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Area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00400" y="841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Mgmt (V-Model #10)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0" y="6583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0" y="841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model params, Burckhardt coefficients, scenario definitions, noise profiles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132320" y="65836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132320" y="8412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CSV datasets, labeled (slip,mu,surface), noise-augmented, balanced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3898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IS — Current Process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16276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comes only from physical testing or single-scenario simulations. Limited coverage of edge cases. No systematic noise injection for robustness testing.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2240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physical tests, incomplete scenario coverage, no noise models, bias toward common surfaces, insufficient data for ML training.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3898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— AI-Enabled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6276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simulation generates thousands of braking scenarios. 3-source noise model (sensor, slip, parameter drift) creates realistic conditions. Automated balancing ensures equal surface representation.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2240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scenarios: 48 to unlimited. Cost: -95% vs physical. Coverage: all surfaces + edge cases. ML training data: 20k+ balanced rows. Noise-validated F1=0.97.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Tools Market Analysis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8229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AVL CRUISE 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Multi-domain vehicle simulation, co-simulation, virtual test drives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capable, HIL integration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IPG CarMaker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IPG Automotive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test driving, scenario-based testing, sensor simulation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500+ vehicle models, ADAS validation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Process Standard Mapping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640080" cy="2560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685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Use Cases to Automotive Standards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V-Model 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26262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Automotive SPICE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Standards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UC_001 Friction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 SW Design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3-4: SW Safety Req.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SWE.1-SWE.4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ISO/PAS 21448 (SOTIF)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UC_002 Req. Trace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 Requirements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8: Safety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SYS.2, SYS.3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 29148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UC_003 Code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 SW Dev + #7 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6: SW Unit V&amp;V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SWE.4, SWE.6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MISRA C:2012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UC_004 Test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 Test Data Mgmt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4: 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SWE.5, SWE.6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1012 (V&amp;V)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00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6"/>
          <p:cNvSpPr/>
          <p:nvPr/>
        </p:nvSpPr>
        <p:spPr>
          <a:xfrm>
            <a:off x="73152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Automotive Industry?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 failure = lives at risk. AI must be validated rigorously (ASIL-D).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Data-rich: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vehicles generate TB/day. Untapped potential for ML-based optimization.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26262 + A-SPICE provide clear process framework for AI integration.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Electrification: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need friction-aware regen braking — our framework enables this directly.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Clustering &amp; Prioritization Strategy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640080" cy="2560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685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Criteria Definition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54864" cy="8229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 (25%)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implement this with current technology and data?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17520" y="10972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1=Research needed, 2=Prototype possible, 3=Ready to implement, 4=Already validated, 5=Production-ready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(30%)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value does this create for OEMs?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17520" y="2057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1=Marginal, 2=Noticeable, 3=Significant (&gt;10% improvement), 4=Major (&gt;30%), 5=Transformative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4864" cy="8229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Level (25%)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novel is this vs existing market solutions?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017520" y="3017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1=Commodity, 2=Incremental, 3=New combination, 4=Novel method, 5=Paradigm shift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IP Value (20%)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create defensible intellectual property?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17520" y="3977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1=No IP, 2=Know-how, 3=Trade secret, 4=Patentable, 5=Platform IP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 = 0.25*Feasibility + 0.30*Impact + 0.25*Innovation + 0.20*IP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Scoring Matrix &amp; Prioritization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640080" cy="2560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685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Scoring Results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Value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UC_001 Friction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UC_004 Test Data Gen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UC_002 Req. Trace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UC_003 Code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291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393192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— Why In-House?</a:t>
            </a:r>
            <a:endParaRPr lang="en-US" sz="1200" dirty="0"/>
          </a:p>
        </p:txBody>
      </p:sp>
      <p:sp>
        <p:nvSpPr>
          <p:cNvPr id="7" name="Text 8"/>
          <p:cNvSpPr/>
          <p:nvPr/>
        </p:nvSpPr>
        <p:spPr>
          <a:xfrm>
            <a:off x="640080" y="37033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UC_001 &amp; UC_004 create unique IP. No commercial tool offers ESC-gradient identification or alpha-gated activation. Our 13-DoF simulation is the foundation for synthetic data generation. These are strategic differentiators — building internally preserves competitive advantage.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3291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3291840"/>
            <a:ext cx="393192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— Why Market Tools?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37033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UC_002 &amp; UC_003 are commodity processes. IBM DOORS and Polyspace are industry-proven, ASPICE-compliant, and have decades of automotive validation. Building in-house would reinvent the wheel with no strategic advantage. Speed to value: immediate deployment.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5: Executive Proposal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640080" cy="2560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685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Recommendation to Top Management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00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2 MAKE (Strategic IP) + 2 BUY (Proven Solutions) = Balanced Innovation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192024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1892808"/>
            <a:ext cx="502920" cy="2011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892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97280" y="18745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UC_001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194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Friction ID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Snow: -55% stopping distance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months R&amp;D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Platform IP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vehicles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06040" y="17830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606040" y="1783080"/>
            <a:ext cx="192024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97480" y="1892808"/>
            <a:ext cx="502920" cy="2011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97480" y="1892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46120" y="18745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UC_004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97480" y="2194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Test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9748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cost: -95%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3063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months R&amp;D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3429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Platform IP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vehicles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7830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1783080"/>
            <a:ext cx="192024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1892808"/>
            <a:ext cx="5029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1892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94960" y="18745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UC_002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2194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Traceability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effort: -60%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063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~50k EUR/yr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3429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Immediate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reduction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03720" y="17830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03720" y="1783080"/>
            <a:ext cx="192024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995160" y="1892808"/>
            <a:ext cx="5029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95160" y="1892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543800" y="18745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UC_003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95160" y="2194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9516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errors: -90%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95160" y="3063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~30k EUR/yr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95160" y="3429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Immediate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reduction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5: MAKE — Technical Innovation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00"/>
          </a:xfrm>
          <a:prstGeom prst="rect">
            <a:avLst/>
          </a:prstGeom>
          <a:solidFill>
            <a:srgbClr val="00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UC_001: Why No Commercial Alternative Exists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ESC-Gradient Identifier (novel):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 = (mu - g_true*|s|) / (1-(1+c2*|s|)*exp(-c2*|s|))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GP-ESC Optimizer (novel):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 = alpha*[-2*g_esc/(a*K_id)] + (1-alpha)*[k_esc*g_esc]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Algebraic Activation (novel):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= base*(1 - ln(alpha)/k_conf)   [derived from alpha error def]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confidence: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= LPF(exp(-k * |mu_meas - mu_est| / mu_meas))  [6 roles, 1 metric]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48 simulations, 8 scenarios, 3 brake distributions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21-55%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stopping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301752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3063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12-32%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stopping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3063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convergence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4-6s)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301752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3063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F1=0.97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0372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classifier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noise)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13-DoF vehicle, Burckhardt tire model, v0=30m/s, MATLAB/Simulink. Robustness tested with 3-source noise model.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2D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5: Business Impact &amp; ROI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640080" cy="2560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685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Benefits Summary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(AS IS)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(TO BE)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 stopping distance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(lockup)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 slip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 to -55%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adaptation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300-500ms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100ms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3-5x faster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 calibration 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10,000+ km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 ML 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Req. traceability 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40+ hrs/release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linking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migration 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data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testing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Parametric + noise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-95%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00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 for Automotive OEMs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Retrofit-compatible: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 TOP of existing ABS hardware. Classical fallback preserved (alpha=0).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EV-critical: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Friction-aware regenerative braking coordination. Enables safe one-pedal driving.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IP: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framework for any vehicle. One alpha, one solver, one perturbation signal.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Shape 2"/>
          <p:cNvSpPr/>
          <p:nvPr/>
        </p:nvSpPr>
        <p:spPr>
          <a:xfrm>
            <a:off x="1" y="0"/>
            <a:ext cx="9143771" cy="499949"/>
          </a:xfrm>
          <a:prstGeom prst="rect">
            <a:avLst/>
          </a:prstGeom>
          <a:solidFill>
            <a:srgbClr val="002D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3"/>
          <p:cNvSpPr txBox="1"/>
          <p:nvPr/>
        </p:nvSpPr>
        <p:spPr>
          <a:xfrm>
            <a:off x="285979" y="100127"/>
            <a:ext cx="3558617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Definition Template</a:t>
            </a:r>
            <a:endParaRPr lang="en-US" sz="1575"/>
          </a:p>
        </p:txBody>
      </p:sp>
      <p:sp>
        <p:nvSpPr>
          <p:cNvPr id="6" name="Shape 4"/>
          <p:cNvSpPr/>
          <p:nvPr/>
        </p:nvSpPr>
        <p:spPr>
          <a:xfrm>
            <a:off x="1" y="499948"/>
            <a:ext cx="9143771" cy="4643552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Shape 5"/>
          <p:cNvSpPr/>
          <p:nvPr/>
        </p:nvSpPr>
        <p:spPr>
          <a:xfrm>
            <a:off x="285979" y="643280"/>
            <a:ext cx="8572500" cy="521208"/>
          </a:xfrm>
          <a:prstGeom prst="roundRect">
            <a:avLst>
              <a:gd name="adj" fmla="val 288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285979" y="643280"/>
            <a:ext cx="28804" cy="521208"/>
          </a:xfrm>
          <a:prstGeom prst="roundRect">
            <a:avLst>
              <a:gd name="adj" fmla="val 521850"/>
            </a:avLst>
          </a:prstGeom>
          <a:solidFill>
            <a:srgbClr val="002D72"/>
          </a:solidFill>
          <a:ln w="12700">
            <a:solidFill>
              <a:srgbClr val="002D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386105" y="714604"/>
            <a:ext cx="1014984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002D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ID</a:t>
            </a:r>
            <a:endParaRPr lang="en-US" sz="600"/>
          </a:p>
        </p:txBody>
      </p:sp>
      <p:sp>
        <p:nvSpPr>
          <p:cNvPr id="10" name="Shape 8"/>
          <p:cNvSpPr/>
          <p:nvPr/>
        </p:nvSpPr>
        <p:spPr>
          <a:xfrm>
            <a:off x="386105" y="846278"/>
            <a:ext cx="957377" cy="378562"/>
          </a:xfrm>
          <a:prstGeom prst="roundRect">
            <a:avLst>
              <a:gd name="adj" fmla="val 27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9"/>
          <p:cNvSpPr txBox="1"/>
          <p:nvPr/>
        </p:nvSpPr>
        <p:spPr>
          <a:xfrm>
            <a:off x="449885" y="910743"/>
            <a:ext cx="886054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002D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UC_001</a:t>
            </a:r>
            <a:endParaRPr lang="en-US" sz="675"/>
          </a:p>
        </p:txBody>
      </p:sp>
      <p:sp>
        <p:nvSpPr>
          <p:cNvPr id="12" name="Text 10"/>
          <p:cNvSpPr txBox="1"/>
          <p:nvPr/>
        </p:nvSpPr>
        <p:spPr>
          <a:xfrm>
            <a:off x="1412063" y="714604"/>
            <a:ext cx="1865376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 Name</a:t>
            </a:r>
            <a:endParaRPr lang="en-US" sz="600"/>
          </a:p>
        </p:txBody>
      </p:sp>
      <p:sp>
        <p:nvSpPr>
          <p:cNvPr id="13" name="Shape 11"/>
          <p:cNvSpPr/>
          <p:nvPr/>
        </p:nvSpPr>
        <p:spPr>
          <a:xfrm>
            <a:off x="1412063" y="846278"/>
            <a:ext cx="1793367" cy="378562"/>
          </a:xfrm>
          <a:prstGeom prst="roundRect">
            <a:avLst>
              <a:gd name="adj" fmla="val 27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Text 12"/>
          <p:cNvSpPr txBox="1"/>
          <p:nvPr/>
        </p:nvSpPr>
        <p:spPr>
          <a:xfrm>
            <a:off x="1476527" y="910743"/>
            <a:ext cx="1731645" cy="1145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AI-Enhanced Tire-Road Friction ID</a:t>
            </a:r>
            <a:endParaRPr lang="en-US" sz="675" dirty="0">
              <a:latin typeface="Open Sans"/>
              <a:ea typeface="Open Sans"/>
              <a:cs typeface="Open San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273323" y="714604"/>
            <a:ext cx="1865376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 Process Area</a:t>
            </a:r>
            <a:endParaRPr lang="en-US" sz="600"/>
          </a:p>
        </p:txBody>
      </p:sp>
      <p:sp>
        <p:nvSpPr>
          <p:cNvPr id="16" name="Shape 14"/>
          <p:cNvSpPr/>
          <p:nvPr/>
        </p:nvSpPr>
        <p:spPr>
          <a:xfrm>
            <a:off x="3273323" y="846278"/>
            <a:ext cx="1793367" cy="378562"/>
          </a:xfrm>
          <a:prstGeom prst="roundRect">
            <a:avLst>
              <a:gd name="adj" fmla="val 27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Text 15"/>
          <p:cNvSpPr txBox="1"/>
          <p:nvPr/>
        </p:nvSpPr>
        <p:spPr>
          <a:xfrm>
            <a:off x="3337789" y="910743"/>
            <a:ext cx="1731645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Vehicle Dynamics / Active Safety (ABS)</a:t>
            </a:r>
            <a:endParaRPr lang="en-US" sz="675"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135270" y="714604"/>
            <a:ext cx="1865376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Characteristics of Inputs</a:t>
            </a:r>
            <a:endParaRPr lang="en-US" sz="600"/>
          </a:p>
        </p:txBody>
      </p:sp>
      <p:sp>
        <p:nvSpPr>
          <p:cNvPr id="19" name="Shape 17"/>
          <p:cNvSpPr/>
          <p:nvPr/>
        </p:nvSpPr>
        <p:spPr>
          <a:xfrm>
            <a:off x="5135270" y="846278"/>
            <a:ext cx="1793367" cy="378562"/>
          </a:xfrm>
          <a:prstGeom prst="roundRect">
            <a:avLst>
              <a:gd name="adj" fmla="val 27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0" name="Text 18"/>
          <p:cNvSpPr txBox="1"/>
          <p:nvPr/>
        </p:nvSpPr>
        <p:spPr>
          <a:xfrm>
            <a:off x="5165432" y="966772"/>
            <a:ext cx="1867433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Wheel slip (1kHz encoder), </a:t>
            </a:r>
            <a:r>
              <a:rPr lang="en-US" sz="675" i="1" dirty="0" err="1">
                <a:latin typeface="Open Sans"/>
                <a:ea typeface="Open Sans"/>
                <a:cs typeface="Open Sans"/>
              </a:rPr>
              <a:t>F_l</a:t>
            </a:r>
            <a:r>
              <a:rPr lang="en-US" sz="675" i="1" dirty="0">
                <a:latin typeface="Open Sans"/>
                <a:ea typeface="Open Sans"/>
                <a:cs typeface="Open Sans"/>
              </a:rPr>
              <a:t> estimates (IMU), ESC perturbation signal, brake torque</a:t>
            </a:r>
            <a:endParaRPr lang="en-US" sz="675" dirty="0">
              <a:latin typeface="Open Sans"/>
              <a:ea typeface="Open Sans"/>
              <a:cs typeface="Open San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996532" y="714604"/>
            <a:ext cx="1865376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Characteristics of Outputs</a:t>
            </a:r>
            <a:endParaRPr lang="en-US" sz="600"/>
          </a:p>
        </p:txBody>
      </p:sp>
      <p:sp>
        <p:nvSpPr>
          <p:cNvPr id="22" name="Shape 20"/>
          <p:cNvSpPr/>
          <p:nvPr/>
        </p:nvSpPr>
        <p:spPr>
          <a:xfrm>
            <a:off x="6996532" y="846278"/>
            <a:ext cx="1793367" cy="378562"/>
          </a:xfrm>
          <a:prstGeom prst="roundRect">
            <a:avLst>
              <a:gd name="adj" fmla="val 27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3" name="Text 21"/>
          <p:cNvSpPr txBox="1"/>
          <p:nvPr/>
        </p:nvSpPr>
        <p:spPr>
          <a:xfrm>
            <a:off x="7032982" y="966772"/>
            <a:ext cx="1867433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Burckhardt (c1,c2,c3), surface class, </a:t>
            </a:r>
            <a:r>
              <a:rPr lang="en-US" sz="675" i="1" dirty="0" err="1">
                <a:latin typeface="Open Sans"/>
                <a:ea typeface="Open Sans"/>
                <a:cs typeface="Open Sans"/>
              </a:rPr>
              <a:t>s_opt</a:t>
            </a:r>
            <a:r>
              <a:rPr lang="en-US" sz="675" i="1" dirty="0">
                <a:latin typeface="Open Sans"/>
                <a:ea typeface="Open Sans"/>
                <a:cs typeface="Open Sans"/>
              </a:rPr>
              <a:t>, </a:t>
            </a:r>
            <a:r>
              <a:rPr lang="en-US" sz="675" i="1" dirty="0" err="1">
                <a:latin typeface="Open Sans"/>
                <a:ea typeface="Open Sans"/>
                <a:cs typeface="Open Sans"/>
              </a:rPr>
              <a:t>mu_peak</a:t>
            </a:r>
            <a:r>
              <a:rPr lang="en-US" sz="675" i="1" dirty="0">
                <a:latin typeface="Open Sans"/>
                <a:ea typeface="Open Sans"/>
                <a:cs typeface="Open Sans"/>
              </a:rPr>
              <a:t>, confidence alpha</a:t>
            </a:r>
            <a:endParaRPr lang="en-US" sz="675" dirty="0">
              <a:latin typeface="Open Sans"/>
              <a:ea typeface="Open Sans"/>
              <a:cs typeface="Open Sa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85979" y="1243355"/>
            <a:ext cx="4236187" cy="2376983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5" name="Shape 23"/>
          <p:cNvSpPr/>
          <p:nvPr/>
        </p:nvSpPr>
        <p:spPr>
          <a:xfrm>
            <a:off x="285979" y="1243356"/>
            <a:ext cx="4236187" cy="28804"/>
          </a:xfrm>
          <a:prstGeom prst="roundRect">
            <a:avLst>
              <a:gd name="adj" fmla="val 119796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6" name="Shape 24"/>
          <p:cNvSpPr/>
          <p:nvPr/>
        </p:nvSpPr>
        <p:spPr>
          <a:xfrm>
            <a:off x="371704" y="1543736"/>
            <a:ext cx="4064737" cy="685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1704" y="1370229"/>
            <a:ext cx="114529" cy="114529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543154" y="1357884"/>
            <a:ext cx="764667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IS Situation</a:t>
            </a:r>
            <a:endParaRPr lang="en-US" sz="675"/>
          </a:p>
        </p:txBody>
      </p:sp>
      <p:sp>
        <p:nvSpPr>
          <p:cNvPr id="29" name="Text 26"/>
          <p:cNvSpPr txBox="1"/>
          <p:nvPr/>
        </p:nvSpPr>
        <p:spPr>
          <a:xfrm>
            <a:off x="371704" y="1632890"/>
            <a:ext cx="4151147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Process Description</a:t>
            </a:r>
            <a:endParaRPr lang="en-US" sz="600"/>
          </a:p>
        </p:txBody>
      </p:sp>
      <p:sp>
        <p:nvSpPr>
          <p:cNvPr id="30" name="Shape 27"/>
          <p:cNvSpPr/>
          <p:nvPr/>
        </p:nvSpPr>
        <p:spPr>
          <a:xfrm>
            <a:off x="371704" y="1765249"/>
            <a:ext cx="4064737" cy="871652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1" name="Text 28"/>
          <p:cNvSpPr txBox="1"/>
          <p:nvPr/>
        </p:nvSpPr>
        <p:spPr>
          <a:xfrm>
            <a:off x="399005" y="2200581"/>
            <a:ext cx="4046220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Industry ABS uses wheel deceleration thresholds: detect lockup, dump pressure, wait for re-acceleration, rebuild pressure. No surface knowledge, no optimal slip tracking, same parameters for all surfaces. Adapts to mu-jump in 300-500ms (2-3 ABS cycles). Calibration requires 10,000+ km of test driving per platform.</a:t>
            </a:r>
            <a:endParaRPr lang="en-US" sz="675" dirty="0">
              <a:latin typeface="Open Sans"/>
              <a:ea typeface="Open Sans"/>
              <a:cs typeface="Open Sans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371704" y="2694451"/>
            <a:ext cx="4151147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Process Criticalities and Pain Points</a:t>
            </a:r>
            <a:endParaRPr lang="en-US" sz="600"/>
          </a:p>
        </p:txBody>
      </p:sp>
      <p:sp>
        <p:nvSpPr>
          <p:cNvPr id="33" name="Shape 30"/>
          <p:cNvSpPr/>
          <p:nvPr/>
        </p:nvSpPr>
        <p:spPr>
          <a:xfrm>
            <a:off x="371704" y="2826811"/>
            <a:ext cx="4064737" cy="738663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4" name="Text 31"/>
          <p:cNvSpPr txBox="1"/>
          <p:nvPr/>
        </p:nvSpPr>
        <p:spPr>
          <a:xfrm>
            <a:off x="407468" y="3059364"/>
            <a:ext cx="4022217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Blind operation (no surface knowledge), 300-500ms adaptation delay at mu-jump, suboptimal braking on snow/ice (+20-50% stopping distance), high calibration cost (10k+ km), no friction data for ESC/TCS/lateral stability, single-dimensional control (lockup yes/no only).</a:t>
            </a:r>
            <a:endParaRPr lang="en-US" sz="675" dirty="0">
              <a:latin typeface="Open Sans"/>
              <a:ea typeface="Open Sans"/>
              <a:cs typeface="Open Sans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625721" y="1243356"/>
            <a:ext cx="4236187" cy="2366696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6" name="Shape 33"/>
          <p:cNvSpPr/>
          <p:nvPr/>
        </p:nvSpPr>
        <p:spPr>
          <a:xfrm>
            <a:off x="4625721" y="1243356"/>
            <a:ext cx="4236187" cy="28804"/>
          </a:xfrm>
          <a:prstGeom prst="roundRect">
            <a:avLst>
              <a:gd name="adj" fmla="val 119796"/>
            </a:avLst>
          </a:prstGeom>
          <a:solidFill>
            <a:srgbClr val="0072CE"/>
          </a:solidFill>
          <a:ln w="12700">
            <a:solidFill>
              <a:srgbClr val="0072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7" name="Shape 34"/>
          <p:cNvSpPr/>
          <p:nvPr/>
        </p:nvSpPr>
        <p:spPr>
          <a:xfrm>
            <a:off x="4711446" y="1543736"/>
            <a:ext cx="4064737" cy="685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4711447" y="1370229"/>
            <a:ext cx="142646" cy="114529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4911014" y="1357884"/>
            <a:ext cx="1441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007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BE Situation (AI Enabled)</a:t>
            </a:r>
            <a:endParaRPr lang="en-US" sz="675"/>
          </a:p>
        </p:txBody>
      </p:sp>
      <p:sp>
        <p:nvSpPr>
          <p:cNvPr id="40" name="Text 36"/>
          <p:cNvSpPr txBox="1"/>
          <p:nvPr/>
        </p:nvSpPr>
        <p:spPr>
          <a:xfrm>
            <a:off x="4711447" y="1632890"/>
            <a:ext cx="4151147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AI/GenAI Application Description</a:t>
            </a:r>
            <a:endParaRPr lang="en-US" sz="600"/>
          </a:p>
        </p:txBody>
      </p:sp>
      <p:sp>
        <p:nvSpPr>
          <p:cNvPr id="41" name="Shape 37"/>
          <p:cNvSpPr/>
          <p:nvPr/>
        </p:nvSpPr>
        <p:spPr>
          <a:xfrm>
            <a:off x="4711446" y="1765249"/>
            <a:ext cx="4064737" cy="871652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2" name="Text 38"/>
          <p:cNvSpPr txBox="1"/>
          <p:nvPr/>
        </p:nvSpPr>
        <p:spPr>
          <a:xfrm>
            <a:off x="4725485" y="2199509"/>
            <a:ext cx="4200525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3-layer identifier: ML-enhanced LUT (GP/NN trained on tire data) provides coarse c2, ESC-gradient analytic solves c1/c3 at any operating point (no peak assumption), Brent refines c2 with two-point root-finding. GP-ESC optimizer uses identifier curvature for Newton-like peak convergence (~80ms all surfaces). Alpha confidence metric gates all decisions continuously.</a:t>
            </a:r>
            <a:endParaRPr lang="en-US" sz="675" dirty="0">
              <a:latin typeface="Open Sans"/>
              <a:ea typeface="Open Sans"/>
              <a:cs typeface="Open Sans"/>
            </a:endParaRPr>
          </a:p>
        </p:txBody>
      </p:sp>
      <p:sp>
        <p:nvSpPr>
          <p:cNvPr id="43" name="Text 39"/>
          <p:cNvSpPr txBox="1"/>
          <p:nvPr/>
        </p:nvSpPr>
        <p:spPr>
          <a:xfrm>
            <a:off x="4711447" y="2694451"/>
            <a:ext cx="4151147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Added Value &amp; Benefits</a:t>
            </a:r>
            <a:endParaRPr lang="en-US" sz="600"/>
          </a:p>
        </p:txBody>
      </p:sp>
      <p:sp>
        <p:nvSpPr>
          <p:cNvPr id="44" name="Shape 40"/>
          <p:cNvSpPr/>
          <p:nvPr/>
        </p:nvSpPr>
        <p:spPr>
          <a:xfrm>
            <a:off x="4711446" y="2826811"/>
            <a:ext cx="4064737" cy="722204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5" name="Text 41"/>
          <p:cNvSpPr txBox="1"/>
          <p:nvPr/>
        </p:nvSpPr>
        <p:spPr>
          <a:xfrm>
            <a:off x="4775912" y="3003335"/>
            <a:ext cx="4149090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Snow stopping distance: -21 to -55%. Dry stopping distance: -12 to -32%. Mu-jump adaptation: less than 100ms (3-5x faster). Surface ID: F1=0.97 (noisy). Calibration effort: -80% (data-driven). </a:t>
            </a:r>
            <a:r>
              <a:rPr lang="en-US" sz="675" i="1" dirty="0" err="1">
                <a:latin typeface="Open Sans"/>
                <a:ea typeface="Open Sans"/>
                <a:cs typeface="Open Sans"/>
              </a:rPr>
              <a:t>s_opt</a:t>
            </a:r>
            <a:r>
              <a:rPr lang="en-US" sz="675" i="1" dirty="0">
                <a:latin typeface="Open Sans"/>
                <a:ea typeface="Open Sans"/>
                <a:cs typeface="Open Sans"/>
              </a:rPr>
              <a:t> convergence: 80ms vs 4-6s (50-75x faster). Validated: 48 simulations, 3 surfaces, 3 brake distributions.</a:t>
            </a:r>
            <a:endParaRPr lang="en-US" sz="675">
              <a:latin typeface="Open Sans"/>
              <a:ea typeface="Open Sans"/>
              <a:cs typeface="Open Sans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285979" y="3599079"/>
            <a:ext cx="8572500" cy="1407262"/>
          </a:xfrm>
          <a:prstGeom prst="roundRect">
            <a:avLst>
              <a:gd name="adj" fmla="val 39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7" name="Shape 43"/>
          <p:cNvSpPr/>
          <p:nvPr/>
        </p:nvSpPr>
        <p:spPr>
          <a:xfrm>
            <a:off x="285979" y="3599079"/>
            <a:ext cx="28804" cy="1407262"/>
          </a:xfrm>
          <a:prstGeom prst="roundRect">
            <a:avLst>
              <a:gd name="adj" fmla="val 193376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8" name="Shape 44"/>
          <p:cNvSpPr/>
          <p:nvPr/>
        </p:nvSpPr>
        <p:spPr>
          <a:xfrm>
            <a:off x="399822" y="3856253"/>
            <a:ext cx="8372246" cy="685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9822" y="3699206"/>
            <a:ext cx="114529" cy="114529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571272" y="3684803"/>
            <a:ext cx="2049170" cy="14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Commercial Tools Market Analysis</a:t>
            </a:r>
            <a:endParaRPr lang="en-US" sz="750"/>
          </a:p>
        </p:txBody>
      </p:sp>
      <p:sp>
        <p:nvSpPr>
          <p:cNvPr id="51" name="Text 46"/>
          <p:cNvSpPr txBox="1"/>
          <p:nvPr/>
        </p:nvSpPr>
        <p:spPr>
          <a:xfrm>
            <a:off x="7178955" y="3699206"/>
            <a:ext cx="1925726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 at least 2 potential market solutions</a:t>
            </a:r>
            <a:endParaRPr lang="en-US" sz="675"/>
          </a:p>
        </p:txBody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64426" y="3710178"/>
            <a:ext cx="85725" cy="85725"/>
          </a:xfrm>
          <a:prstGeom prst="rect">
            <a:avLst/>
          </a:prstGeom>
        </p:spPr>
      </p:pic>
      <p:sp>
        <p:nvSpPr>
          <p:cNvPr id="53" name="Shape 47"/>
          <p:cNvSpPr/>
          <p:nvPr/>
        </p:nvSpPr>
        <p:spPr>
          <a:xfrm>
            <a:off x="399822" y="3920719"/>
            <a:ext cx="8372246" cy="471830"/>
          </a:xfrm>
          <a:prstGeom prst="roundRect">
            <a:avLst>
              <a:gd name="adj" fmla="val 1761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4" name="Text 48"/>
          <p:cNvSpPr txBox="1"/>
          <p:nvPr/>
        </p:nvSpPr>
        <p:spPr>
          <a:xfrm>
            <a:off x="449884" y="3970782"/>
            <a:ext cx="1679525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Name</a:t>
            </a:r>
            <a:endParaRPr lang="en-US" sz="600"/>
          </a:p>
        </p:txBody>
      </p:sp>
      <p:sp>
        <p:nvSpPr>
          <p:cNvPr id="55" name="Shape 49"/>
          <p:cNvSpPr/>
          <p:nvPr/>
        </p:nvSpPr>
        <p:spPr>
          <a:xfrm>
            <a:off x="449884" y="4099027"/>
            <a:ext cx="1614374" cy="371704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6" name="Text 50"/>
          <p:cNvSpPr txBox="1"/>
          <p:nvPr/>
        </p:nvSpPr>
        <p:spPr>
          <a:xfrm>
            <a:off x="514350" y="4163492"/>
            <a:ext cx="1545794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Continental MK C2</a:t>
            </a:r>
            <a:endParaRPr lang="en-US" sz="675" dirty="0">
              <a:latin typeface="Open Sans"/>
              <a:ea typeface="Open Sans"/>
              <a:cs typeface="Open Sans"/>
            </a:endParaRPr>
          </a:p>
        </p:txBody>
      </p:sp>
      <p:sp>
        <p:nvSpPr>
          <p:cNvPr id="57" name="Text 51"/>
          <p:cNvSpPr txBox="1"/>
          <p:nvPr/>
        </p:nvSpPr>
        <p:spPr>
          <a:xfrm>
            <a:off x="2115693" y="3970782"/>
            <a:ext cx="1679525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Vendor</a:t>
            </a:r>
            <a:endParaRPr lang="en-US" sz="600"/>
          </a:p>
        </p:txBody>
      </p:sp>
      <p:sp>
        <p:nvSpPr>
          <p:cNvPr id="58" name="Shape 52"/>
          <p:cNvSpPr/>
          <p:nvPr/>
        </p:nvSpPr>
        <p:spPr>
          <a:xfrm>
            <a:off x="2115693" y="4099027"/>
            <a:ext cx="1614374" cy="371704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9" name="Text 53"/>
          <p:cNvSpPr txBox="1"/>
          <p:nvPr/>
        </p:nvSpPr>
        <p:spPr>
          <a:xfrm>
            <a:off x="2180158" y="4163492"/>
            <a:ext cx="1545794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Continental AG</a:t>
            </a:r>
            <a:endParaRPr lang="en-US" sz="675">
              <a:latin typeface="Calibri"/>
              <a:ea typeface="Calibri"/>
              <a:cs typeface="Calibri"/>
            </a:endParaRPr>
          </a:p>
        </p:txBody>
      </p:sp>
      <p:sp>
        <p:nvSpPr>
          <p:cNvPr id="60" name="Text 54"/>
          <p:cNvSpPr txBox="1"/>
          <p:nvPr/>
        </p:nvSpPr>
        <p:spPr>
          <a:xfrm>
            <a:off x="3781501" y="3970782"/>
            <a:ext cx="1679525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 Website</a:t>
            </a:r>
            <a:endParaRPr lang="en-US" sz="600"/>
          </a:p>
        </p:txBody>
      </p:sp>
      <p:sp>
        <p:nvSpPr>
          <p:cNvPr id="61" name="Shape 55"/>
          <p:cNvSpPr/>
          <p:nvPr/>
        </p:nvSpPr>
        <p:spPr>
          <a:xfrm>
            <a:off x="3781501" y="4099027"/>
            <a:ext cx="1614374" cy="371704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2" name="Text 56"/>
          <p:cNvSpPr txBox="1"/>
          <p:nvPr/>
        </p:nvSpPr>
        <p:spPr>
          <a:xfrm>
            <a:off x="3845966" y="4163492"/>
            <a:ext cx="1545794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continental-automotive.com</a:t>
            </a:r>
            <a:endParaRPr lang="en-US" sz="675" dirty="0">
              <a:latin typeface="Open Sans"/>
              <a:ea typeface="Open Sans"/>
              <a:cs typeface="Open Sans"/>
            </a:endParaRPr>
          </a:p>
        </p:txBody>
      </p:sp>
      <p:sp>
        <p:nvSpPr>
          <p:cNvPr id="63" name="Text 57"/>
          <p:cNvSpPr txBox="1"/>
          <p:nvPr/>
        </p:nvSpPr>
        <p:spPr>
          <a:xfrm>
            <a:off x="5447995" y="3970782"/>
            <a:ext cx="1679525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Features</a:t>
            </a:r>
            <a:endParaRPr lang="en-US" sz="600"/>
          </a:p>
        </p:txBody>
      </p:sp>
      <p:sp>
        <p:nvSpPr>
          <p:cNvPr id="64" name="Shape 58"/>
          <p:cNvSpPr/>
          <p:nvPr/>
        </p:nvSpPr>
        <p:spPr>
          <a:xfrm>
            <a:off x="5447995" y="4099027"/>
            <a:ext cx="1614374" cy="371704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5" name="Text 59"/>
          <p:cNvSpPr txBox="1"/>
          <p:nvPr/>
        </p:nvSpPr>
        <p:spPr>
          <a:xfrm>
            <a:off x="5483760" y="4219521"/>
            <a:ext cx="1545794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Integrated ABS/ESC/TCS, hydraulic modulator, embedded ECU, wheel speed sensors</a:t>
            </a:r>
            <a:endParaRPr lang="en-US" sz="675">
              <a:latin typeface="Calibri"/>
              <a:ea typeface="Calibri"/>
              <a:cs typeface="Calibri"/>
            </a:endParaRPr>
          </a:p>
        </p:txBody>
      </p:sp>
      <p:sp>
        <p:nvSpPr>
          <p:cNvPr id="66" name="Text 60"/>
          <p:cNvSpPr txBox="1"/>
          <p:nvPr/>
        </p:nvSpPr>
        <p:spPr>
          <a:xfrm>
            <a:off x="7113803" y="3970782"/>
            <a:ext cx="1679525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Performances &amp; KPIs</a:t>
            </a:r>
            <a:endParaRPr lang="en-US" sz="600"/>
          </a:p>
        </p:txBody>
      </p:sp>
      <p:sp>
        <p:nvSpPr>
          <p:cNvPr id="67" name="Shape 61"/>
          <p:cNvSpPr/>
          <p:nvPr/>
        </p:nvSpPr>
        <p:spPr>
          <a:xfrm>
            <a:off x="7113803" y="4099027"/>
            <a:ext cx="1614374" cy="371704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8" name="Text 62"/>
          <p:cNvSpPr txBox="1"/>
          <p:nvPr/>
        </p:nvSpPr>
        <p:spPr>
          <a:xfrm>
            <a:off x="7178269" y="4185903"/>
            <a:ext cx="1545794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ASIL-D certified, 20+ years field data, industry standard stopping distance</a:t>
            </a:r>
            <a:endParaRPr lang="en-US" sz="675" dirty="0">
              <a:latin typeface="Open Sans"/>
              <a:ea typeface="Open Sans"/>
              <a:cs typeface="Open Sans"/>
            </a:endParaRPr>
          </a:p>
        </p:txBody>
      </p:sp>
      <p:sp>
        <p:nvSpPr>
          <p:cNvPr id="69" name="Shape 63"/>
          <p:cNvSpPr/>
          <p:nvPr/>
        </p:nvSpPr>
        <p:spPr>
          <a:xfrm>
            <a:off x="399822" y="4446042"/>
            <a:ext cx="8372246" cy="471830"/>
          </a:xfrm>
          <a:prstGeom prst="roundRect">
            <a:avLst>
              <a:gd name="adj" fmla="val 1761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0" name="Text 64"/>
          <p:cNvSpPr txBox="1"/>
          <p:nvPr/>
        </p:nvSpPr>
        <p:spPr>
          <a:xfrm>
            <a:off x="449884" y="4496105"/>
            <a:ext cx="1679525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Name</a:t>
            </a:r>
            <a:endParaRPr lang="en-US" sz="600"/>
          </a:p>
        </p:txBody>
      </p:sp>
      <p:sp>
        <p:nvSpPr>
          <p:cNvPr id="71" name="Shape 65"/>
          <p:cNvSpPr/>
          <p:nvPr/>
        </p:nvSpPr>
        <p:spPr>
          <a:xfrm>
            <a:off x="449884" y="4625036"/>
            <a:ext cx="1614374" cy="371704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2" name="Text 66"/>
          <p:cNvSpPr txBox="1"/>
          <p:nvPr/>
        </p:nvSpPr>
        <p:spPr>
          <a:xfrm>
            <a:off x="514350" y="4689501"/>
            <a:ext cx="1545794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Bosch </a:t>
            </a:r>
            <a:r>
              <a:rPr lang="en-US" sz="675" i="1" dirty="0" err="1">
                <a:latin typeface="Open Sans"/>
                <a:ea typeface="Open Sans"/>
                <a:cs typeface="Open Sans"/>
              </a:rPr>
              <a:t>iBooster</a:t>
            </a:r>
            <a:r>
              <a:rPr lang="en-US" sz="675" i="1" dirty="0">
                <a:latin typeface="Open Sans"/>
                <a:ea typeface="Open Sans"/>
                <a:cs typeface="Open Sans"/>
              </a:rPr>
              <a:t> + ESP 9.3</a:t>
            </a:r>
            <a:endParaRPr lang="en-US" sz="675" dirty="0">
              <a:latin typeface="Open Sans"/>
              <a:ea typeface="Open Sans"/>
              <a:cs typeface="Open Sans"/>
            </a:endParaRPr>
          </a:p>
        </p:txBody>
      </p:sp>
      <p:sp>
        <p:nvSpPr>
          <p:cNvPr id="73" name="Text 67"/>
          <p:cNvSpPr txBox="1"/>
          <p:nvPr/>
        </p:nvSpPr>
        <p:spPr>
          <a:xfrm>
            <a:off x="2115693" y="4496105"/>
            <a:ext cx="1679525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Vendor</a:t>
            </a:r>
            <a:endParaRPr lang="en-US" sz="600"/>
          </a:p>
        </p:txBody>
      </p:sp>
      <p:sp>
        <p:nvSpPr>
          <p:cNvPr id="74" name="Shape 68"/>
          <p:cNvSpPr/>
          <p:nvPr/>
        </p:nvSpPr>
        <p:spPr>
          <a:xfrm>
            <a:off x="2115693" y="4625036"/>
            <a:ext cx="1614374" cy="371704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5" name="Text 69"/>
          <p:cNvSpPr txBox="1"/>
          <p:nvPr/>
        </p:nvSpPr>
        <p:spPr>
          <a:xfrm>
            <a:off x="2180158" y="4689501"/>
            <a:ext cx="1545794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Robert Bosch GmbH</a:t>
            </a:r>
            <a:endParaRPr lang="en-US" sz="675" dirty="0">
              <a:latin typeface="Open Sans"/>
              <a:ea typeface="Open Sans"/>
              <a:cs typeface="Open Sans"/>
            </a:endParaRPr>
          </a:p>
        </p:txBody>
      </p:sp>
      <p:sp>
        <p:nvSpPr>
          <p:cNvPr id="76" name="Text 70"/>
          <p:cNvSpPr txBox="1"/>
          <p:nvPr/>
        </p:nvSpPr>
        <p:spPr>
          <a:xfrm>
            <a:off x="3781501" y="4496105"/>
            <a:ext cx="1679525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 Website</a:t>
            </a:r>
            <a:endParaRPr lang="en-US" sz="600"/>
          </a:p>
        </p:txBody>
      </p:sp>
      <p:sp>
        <p:nvSpPr>
          <p:cNvPr id="77" name="Shape 71"/>
          <p:cNvSpPr/>
          <p:nvPr/>
        </p:nvSpPr>
        <p:spPr>
          <a:xfrm>
            <a:off x="3781501" y="4625036"/>
            <a:ext cx="1614374" cy="371704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8" name="Text 72"/>
          <p:cNvSpPr txBox="1"/>
          <p:nvPr/>
        </p:nvSpPr>
        <p:spPr>
          <a:xfrm>
            <a:off x="3845966" y="4689501"/>
            <a:ext cx="1545794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bosch-mobility.com</a:t>
            </a:r>
            <a:endParaRPr lang="en-US" sz="675">
              <a:latin typeface="Calibri"/>
              <a:ea typeface="Calibri"/>
              <a:cs typeface="Calibri"/>
            </a:endParaRPr>
          </a:p>
        </p:txBody>
      </p:sp>
      <p:sp>
        <p:nvSpPr>
          <p:cNvPr id="79" name="Text 73"/>
          <p:cNvSpPr txBox="1"/>
          <p:nvPr/>
        </p:nvSpPr>
        <p:spPr>
          <a:xfrm>
            <a:off x="5447995" y="4496105"/>
            <a:ext cx="1679525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Features</a:t>
            </a:r>
            <a:endParaRPr lang="en-US" sz="600"/>
          </a:p>
        </p:txBody>
      </p:sp>
      <p:sp>
        <p:nvSpPr>
          <p:cNvPr id="80" name="Shape 74"/>
          <p:cNvSpPr/>
          <p:nvPr/>
        </p:nvSpPr>
        <p:spPr>
          <a:xfrm>
            <a:off x="5447995" y="4625036"/>
            <a:ext cx="1614374" cy="371704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81" name="Text 75"/>
          <p:cNvSpPr txBox="1"/>
          <p:nvPr/>
        </p:nvSpPr>
        <p:spPr>
          <a:xfrm>
            <a:off x="5483760" y="4745530"/>
            <a:ext cx="1545794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 err="1">
                <a:latin typeface="Open Sans"/>
                <a:ea typeface="Open Sans"/>
                <a:cs typeface="Open Sans"/>
              </a:rPr>
              <a:t>Electromech</a:t>
            </a:r>
            <a:r>
              <a:rPr lang="en-US" sz="675" i="1" dirty="0">
                <a:latin typeface="Open Sans"/>
                <a:ea typeface="Open Sans"/>
                <a:cs typeface="Open Sans"/>
              </a:rPr>
              <a:t> brake booster, 9th gen ESP, regen braking for EVs, camera-based friction est.</a:t>
            </a:r>
            <a:endParaRPr lang="en-US" sz="675" dirty="0">
              <a:latin typeface="Open Sans"/>
              <a:ea typeface="Open Sans"/>
              <a:cs typeface="Open Sans"/>
            </a:endParaRPr>
          </a:p>
        </p:txBody>
      </p:sp>
      <p:sp>
        <p:nvSpPr>
          <p:cNvPr id="82" name="Text 76"/>
          <p:cNvSpPr txBox="1"/>
          <p:nvPr/>
        </p:nvSpPr>
        <p:spPr>
          <a:xfrm>
            <a:off x="7113803" y="4496105"/>
            <a:ext cx="1679525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Performances &amp; KPIs</a:t>
            </a:r>
            <a:endParaRPr lang="en-US" sz="600"/>
          </a:p>
        </p:txBody>
      </p:sp>
      <p:sp>
        <p:nvSpPr>
          <p:cNvPr id="83" name="Shape 77"/>
          <p:cNvSpPr/>
          <p:nvPr/>
        </p:nvSpPr>
        <p:spPr>
          <a:xfrm>
            <a:off x="7113803" y="4625036"/>
            <a:ext cx="1614374" cy="371704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84" name="Text 78"/>
          <p:cNvSpPr txBox="1"/>
          <p:nvPr/>
        </p:nvSpPr>
        <p:spPr>
          <a:xfrm>
            <a:off x="7155857" y="4745530"/>
            <a:ext cx="1545794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latin typeface="Open Sans"/>
                <a:ea typeface="Open Sans"/>
                <a:cs typeface="Open Sans"/>
              </a:rPr>
              <a:t>Under 0.1s response, OTA updateable, supports brake blending</a:t>
            </a:r>
            <a:endParaRPr lang="en-US" sz="675" dirty="0">
              <a:latin typeface="Open Sans"/>
              <a:ea typeface="Open Sans"/>
              <a:cs typeface="Open Sans"/>
            </a:endParaRPr>
          </a:p>
        </p:txBody>
      </p:sp>
      <p:pic>
        <p:nvPicPr>
          <p:cNvPr id="85" name="Image 4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1" y="5057775"/>
            <a:ext cx="9143771" cy="85725"/>
          </a:xfrm>
          <a:prstGeom prst="rect">
            <a:avLst/>
          </a:prstGeom>
        </p:spPr>
      </p:pic>
      <p:pic>
        <p:nvPicPr>
          <p:cNvPr id="87" name="Picture 86" descr="File:Logo Global NTT DATA Future Blue RGB.png - Wikipedia">
            <a:extLst>
              <a:ext uri="{FF2B5EF4-FFF2-40B4-BE49-F238E27FC236}">
                <a16:creationId xmlns:a16="http://schemas.microsoft.com/office/drawing/2014/main" id="{9133FDDA-A470-2F20-907D-49B96E79FF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89471" y="140629"/>
            <a:ext cx="1261754" cy="3273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Signal. One Metric. One Solver.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15544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perturbation: optimizer + identifier + gradient source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Alpha: confidence metric across all 6 system roles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quadprog: single solver for QP1, QP2, and MPC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MAKE: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ID + Synthetic Test Data (unique IP, no market equivalent)</a:t>
            </a:r>
            <a:endParaRPr lang="en-US" sz="12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BUY: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Traceability + Code Quality (proven tools, immediate value)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Kaan | Sajjad Shahali | Politecnico di Torino | NTT DATA BEST Hackathon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Claude (Anthropic) — algorithm design, code generation, presentation | Python scikit-learn — ML models | MATLAB/Simulink — vehicle simulation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2966</Words>
  <Application>Microsoft Office PowerPoint</Application>
  <PresentationFormat>On-screen Show (16:9)</PresentationFormat>
  <Paragraphs>420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Consolas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AI-Enhanced Automotive Active Safety — NTT DATA Hackathon 2026</dc:title>
  <dc:subject>PptxGenJS Presentation</dc:subject>
  <dc:creator>Team Kaan &amp; Sajjad</dc:creator>
  <cp:lastModifiedBy>Ozkan  Omer</cp:lastModifiedBy>
  <cp:revision>3</cp:revision>
  <dcterms:created xsi:type="dcterms:W3CDTF">2026-03-28T16:33:02Z</dcterms:created>
  <dcterms:modified xsi:type="dcterms:W3CDTF">2026-03-28T17:13:44Z</dcterms:modified>
</cp:coreProperties>
</file>